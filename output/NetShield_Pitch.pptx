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Sheet1!$A$2:$A$5</c:f>
              <c:strCache>
                <c:ptCount val="4"/>
                <c:pt idx="0">
                  <c:v>ICMP</c:v>
                </c:pt>
                <c:pt idx="1">
                  <c:v>TCP</c:v>
                </c:pt>
                <c:pt idx="2">
                  <c:v>UDP</c:v>
                </c:pt>
                <c:pt idx="3">
                  <c:v>UNKNOWN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0.08641975308641975</c:v>
                </c:pt>
                <c:pt idx="1">
                  <c:v>0.08132530120481928</c:v>
                </c:pt>
                <c:pt idx="2">
                  <c:v>0.10606060606060606</c:v>
                </c:pt>
                <c:pt idx="3">
                  <c:v>0.11864406779661017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Sheet1!$A$2:$A$25</c:f>
              <c:strCache>
                <c:ptCount val="24"/>
                <c:pt idx="0">
                  <c:v>00</c:v>
                </c:pt>
                <c:pt idx="1">
                  <c:v>01</c:v>
                </c:pt>
                <c:pt idx="2">
                  <c:v>02</c:v>
                </c:pt>
                <c:pt idx="3">
                  <c:v>03</c:v>
                </c:pt>
                <c:pt idx="4">
                  <c:v>04</c:v>
                </c:pt>
                <c:pt idx="5">
                  <c:v>05</c:v>
                </c:pt>
                <c:pt idx="6">
                  <c:v>06</c:v>
                </c:pt>
                <c:pt idx="7">
                  <c:v>07</c:v>
                </c:pt>
                <c:pt idx="8">
                  <c:v>08</c:v>
                </c:pt>
                <c:pt idx="9">
                  <c:v>09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0.1</c:v>
                </c:pt>
                <c:pt idx="1">
                  <c:v>0.05</c:v>
                </c:pt>
                <c:pt idx="2">
                  <c:v>0.1</c:v>
                </c:pt>
                <c:pt idx="3">
                  <c:v>0.08333333333333333</c:v>
                </c:pt>
                <c:pt idx="4">
                  <c:v>0.041666666666666664</c:v>
                </c:pt>
                <c:pt idx="5">
                  <c:v>0.041666666666666664</c:v>
                </c:pt>
                <c:pt idx="6">
                  <c:v>0.125</c:v>
                </c:pt>
                <c:pt idx="7">
                  <c:v>0.10416666666666667</c:v>
                </c:pt>
                <c:pt idx="8">
                  <c:v>0.10416666666666667</c:v>
                </c:pt>
                <c:pt idx="9">
                  <c:v>0.020833333333333332</c:v>
                </c:pt>
                <c:pt idx="10">
                  <c:v>0.08333333333333333</c:v>
                </c:pt>
                <c:pt idx="11">
                  <c:v>0.10416666666666667</c:v>
                </c:pt>
                <c:pt idx="12">
                  <c:v>0.0625</c:v>
                </c:pt>
                <c:pt idx="13">
                  <c:v>0.10416666666666667</c:v>
                </c:pt>
                <c:pt idx="14">
                  <c:v>0.14583333333333334</c:v>
                </c:pt>
                <c:pt idx="15">
                  <c:v>0.10416666666666667</c:v>
                </c:pt>
                <c:pt idx="16">
                  <c:v>0.08333333333333333</c:v>
                </c:pt>
                <c:pt idx="17">
                  <c:v>0.08333333333333333</c:v>
                </c:pt>
                <c:pt idx="18">
                  <c:v>0.10416666666666667</c:v>
                </c:pt>
                <c:pt idx="19">
                  <c:v>0.10416666666666667</c:v>
                </c:pt>
                <c:pt idx="20">
                  <c:v>0.10416666666666667</c:v>
                </c:pt>
                <c:pt idx="21">
                  <c:v>0.1875</c:v>
                </c:pt>
                <c:pt idx="22">
                  <c:v>0.08333333333333333</c:v>
                </c:pt>
                <c:pt idx="23">
                  <c:v>0.08333333333333333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Sheet1!$A$2:$A$4</c:f>
              <c:strCache>
                <c:ptCount val="3"/>
                <c:pt idx="0">
                  <c:v>dmz</c:v>
                </c:pt>
                <c:pt idx="1">
                  <c:v>external</c:v>
                </c:pt>
                <c:pt idx="2">
                  <c:v>internal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0.09448818897637795</c:v>
                </c:pt>
                <c:pt idx="1">
                  <c:v>0.08359133126934984</c:v>
                </c:pt>
                <c:pt idx="2">
                  <c:v>0.09466666666666666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Sheet1!$A$2:$A$7</c:f>
              <c:strCache>
                <c:ptCount val="6"/>
                <c:pt idx="0">
                  <c:v>database</c:v>
                </c:pt>
                <c:pt idx="1">
                  <c:v>dns</c:v>
                </c:pt>
                <c:pt idx="2">
                  <c:v>ephemeral</c:v>
                </c:pt>
                <c:pt idx="3">
                  <c:v>other</c:v>
                </c:pt>
                <c:pt idx="4">
                  <c:v>ssh</c:v>
                </c:pt>
                <c:pt idx="5">
                  <c:v>web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0.12359550561797752</c:v>
                </c:pt>
                <c:pt idx="1">
                  <c:v>0.06015037593984962</c:v>
                </c:pt>
                <c:pt idx="2">
                  <c:v>0.08311688311688312</c:v>
                </c:pt>
                <c:pt idx="3">
                  <c:v>0.06428571428571428</c:v>
                </c:pt>
                <c:pt idx="4">
                  <c:v>0.057692307692307696</c:v>
                </c:pt>
                <c:pt idx="5">
                  <c:v>0.12607449856733524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Sheet1!$A$2:$A$5</c:f>
              <c:strCache>
                <c:ptCount val="4"/>
                <c:pt idx="0">
                  <c:v>guest_network</c:v>
                </c:pt>
                <c:pt idx="1">
                  <c:v>lab_devices</c:v>
                </c:pt>
                <c:pt idx="2">
                  <c:v>servers</c:v>
                </c:pt>
                <c:pt idx="3">
                  <c:v>workstations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0.07166123778501629</c:v>
                </c:pt>
                <c:pt idx="1">
                  <c:v>0.09740259740259741</c:v>
                </c:pt>
                <c:pt idx="2">
                  <c:v>0.10963455149501661</c:v>
                </c:pt>
                <c:pt idx="3">
                  <c:v>0.0880281690140845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Sheet1!$A$2:$A$4</c:f>
              <c:strCache>
                <c:ptCount val="3"/>
                <c:pt idx="0">
                  <c:v>burst</c:v>
                </c:pt>
                <c:pt idx="1">
                  <c:v>scan</c:v>
                </c:pt>
                <c:pt idx="2">
                  <c:v>policy_event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47.0</c:v>
                </c:pt>
                <c:pt idx="1">
                  <c:v>43.0</c:v>
                </c:pt>
                <c:pt idx="2">
                  <c:v>20.0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question: which traffic characteristics repeatedly mark unusual activity, and where should defenders focus first?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scope: anonymized flow data, defensive analysis only, no offensive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the headline findings in under a minute before diving into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which protocols carry volume and which carry risk. They are not always the same.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Medians are used because byte counts are skewed by extreme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 the hourly curve to staffing and alert 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ZoneMatrix sheet in the Excel workbook as supporting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 categories show where unusual traffic concentrates.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Host groups are where ownership lies, so this is where management actions 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Labels were standardised in cleaning so categories are not split by spelling.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Prioritise by recurring risk, not by one-off spikes.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recommendation links to a finding and can be owned by the security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restating the ask: approve the monitoring priorities.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Defensive Monitoring Priorities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What separates normal from unusual network traffic</a:t>
            </a:r>
          </a:p>
          <a:p>
            <a:pPr>
              <a:defRPr sz="1800">
                <a:solidFill>
                  <a:srgbClr val="BBC8E0"/>
                </a:solidFill>
              </a:defRPr>
            </a:pPr>
            <a:r>
              <a:t>NetShield Security Lab  |  Cyber Traffic Insight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Context and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1,200 anonymized network flows analysed from five linked files (flows, hosts, sessions, labels, calendar)</a:t>
            </a:r>
          </a:p>
          <a:p>
            <a:pPr>
              <a:spcAft>
                <a:spcPts val="1000"/>
              </a:spcAft>
              <a:defRPr sz="2000"/>
            </a:pPr>
            <a:r>
              <a:t>• 110 flows (9.2%) carry an event label; the rest are labelled normal</a:t>
            </a:r>
          </a:p>
          <a:p>
            <a:pPr>
              <a:spcAft>
                <a:spcPts val="1000"/>
              </a:spcAft>
              <a:defRPr sz="2000"/>
            </a:pPr>
            <a:r>
              <a:t>• Data quality fixed first: missing protocols, duplicate flow IDs, inconsistent labels, extreme byte counts (110 flagged), unmatched host groups</a:t>
            </a:r>
          </a:p>
          <a:p>
            <a:pPr>
              <a:spcAft>
                <a:spcPts val="1000"/>
              </a:spcAft>
              <a:defRPr sz="2000"/>
            </a:pPr>
            <a:r>
              <a:t>• Features engineered: bytes per packet, bytes per second, packets per second, log bytes, off-hours and weekend flags</a:t>
            </a:r>
          </a:p>
          <a:p>
            <a:pPr>
              <a:spcAft>
                <a:spcPts val="1000"/>
              </a:spcAft>
              <a:defRPr sz="2000"/>
            </a:pPr>
            <a:r>
              <a:t>• Scope is defensive: understand patterns to prioritise monitoring, no offensive testing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Overall unusual rate is 9.2%; several segments run well above this baseline</a:t>
            </a:r>
          </a:p>
          <a:p>
            <a:pPr>
              <a:spcAft>
                <a:spcPts val="1000"/>
              </a:spcAft>
              <a:defRPr sz="2000"/>
            </a:pPr>
            <a:r>
              <a:t>• Highest-risk protocol: UNKNOWN at 11.9% (1.3x baseline)</a:t>
            </a:r>
          </a:p>
          <a:p>
            <a:pPr>
              <a:spcAft>
                <a:spcPts val="1000"/>
              </a:spcAft>
              <a:defRPr sz="2000"/>
            </a:pPr>
            <a:r>
              <a:t>• Highest-risk port category: web (12.6%); host group: servers (11.0%)</a:t>
            </a:r>
          </a:p>
          <a:p>
            <a:pPr>
              <a:spcAft>
                <a:spcPts val="1000"/>
              </a:spcAft>
              <a:defRPr sz="2000"/>
            </a:pPr>
            <a:r>
              <a:t>• Peak unusual hour: 21:00 at 18.8%</a:t>
            </a:r>
          </a:p>
          <a:p>
            <a:pPr>
              <a:spcAft>
                <a:spcPts val="1000"/>
              </a:spcAft>
              <a:defRPr sz="2000"/>
            </a:pPr>
            <a:r>
              <a:t>• Biggest feature gap: median bytes_per_second is 12.85x of normal traffic (higher)</a:t>
            </a:r>
          </a:p>
          <a:p>
            <a:pPr>
              <a:spcAft>
                <a:spcPts val="1000"/>
              </a:spcAft>
              <a:defRPr sz="2000"/>
            </a:pPr>
            <a:r>
              <a:t>• Recommendation: tune monitoring on the recurring segments below, not uniformly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Protocol distribution and risk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280160"/>
          <a:ext cx="7132320" cy="5120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Rectangle 4"/>
          <p:cNvSpPr/>
          <p:nvPr/>
        </p:nvSpPr>
        <p:spPr>
          <a:xfrm>
            <a:off x="7863840" y="1280160"/>
            <a:ext cx="3931920" cy="2651760"/>
          </a:xfrm>
          <a:prstGeom prst="rect">
            <a:avLst/>
          </a:prstGeom>
          <a:solidFill>
            <a:srgbClr val="EEF2F8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3864"/>
                </a:solidFill>
              </a:defRPr>
            </a:pPr>
            <a:r>
              <a:t>Evidence</a:t>
            </a:r>
          </a:p>
          <a:p>
            <a:pPr>
              <a:spcBef>
                <a:spcPts val="600"/>
              </a:spcBef>
              <a:defRPr sz="1400">
                <a:solidFill>
                  <a:srgbClr val="222222"/>
                </a:solidFill>
              </a:defRPr>
            </a:pPr>
            <a:r>
              <a:t>ICMP: 81 flows, 8.6% unusual</a:t>
            </a:r>
          </a:p>
          <a:p>
            <a:pPr>
              <a:spcBef>
                <a:spcPts val="600"/>
              </a:spcBef>
              <a:defRPr sz="1400">
                <a:solidFill>
                  <a:srgbClr val="222222"/>
                </a:solidFill>
              </a:defRPr>
            </a:pPr>
            <a:r>
              <a:t>TCP: 664 flows, 8.1% unusual</a:t>
            </a:r>
          </a:p>
          <a:p>
            <a:pPr>
              <a:spcBef>
                <a:spcPts val="600"/>
              </a:spcBef>
              <a:defRPr sz="1400">
                <a:solidFill>
                  <a:srgbClr val="222222"/>
                </a:solidFill>
              </a:defRPr>
            </a:pPr>
            <a:r>
              <a:t>UDP: 396 flows, 10.6% unusual</a:t>
            </a:r>
          </a:p>
          <a:p>
            <a:pPr>
              <a:spcBef>
                <a:spcPts val="600"/>
              </a:spcBef>
              <a:defRPr sz="1400">
                <a:solidFill>
                  <a:srgbClr val="222222"/>
                </a:solidFill>
              </a:defRPr>
            </a:pPr>
            <a:r>
              <a:t>UNKNOWN: 59 flows, 11.9% unusual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4069080"/>
            <a:ext cx="3931920" cy="2286000"/>
          </a:xfrm>
          <a:prstGeom prst="rect">
            <a:avLst/>
          </a:prstGeom>
          <a:solidFill>
            <a:srgbClr val="EEF2F8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3864"/>
                </a:solidFill>
              </a:defRPr>
            </a:pPr>
            <a:r>
              <a:t>Business meaning</a:t>
            </a:r>
          </a:p>
          <a:p>
            <a:pPr>
              <a:spcBef>
                <a:spcPts val="600"/>
              </a:spcBef>
              <a:defRPr sz="1400">
                <a:solidFill>
                  <a:srgbClr val="222222"/>
                </a:solidFill>
              </a:defRPr>
            </a:pPr>
            <a:r>
              <a:t>UNKNOWN is the most alert-prone protocol (1.3x baseline)</a:t>
            </a:r>
          </a:p>
          <a:p>
            <a:pPr>
              <a:spcBef>
                <a:spcPts val="600"/>
              </a:spcBef>
              <a:defRPr sz="1400">
                <a:solidFill>
                  <a:srgbClr val="222222"/>
                </a:solidFill>
              </a:defRPr>
            </a:pPr>
            <a:r>
              <a:t>Protocol-specific alert rules give the best return on tuning effort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Feature comparison: normal vs unusual traffic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876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Median 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Median unusual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Mean unusual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Median ratio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2,677.50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4,633.00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16,848.24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1.73x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packets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18.00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19.00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45.61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1.06x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3.09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0.37x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bytes_per_packet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154.15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451.08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725.61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2.93x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bytes_per_second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905.46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11,631.00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25,675.29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12.85x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5720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• Largest difference: bytes_per_second (median ratio 12.85x)</a:t>
            </a:r>
          </a:p>
          <a:p>
            <a:pPr>
              <a:spcAft>
                <a:spcPts val="1000"/>
              </a:spcAft>
              <a:defRPr sz="1700"/>
            </a:pPr>
            <a:r>
              <a:t>• Unusual flows differ in size and rate characteristics, so thresholds on these features can support detection</a:t>
            </a:r>
          </a:p>
          <a:p>
            <a:pPr>
              <a:spcAft>
                <a:spcPts val="1000"/>
              </a:spcAft>
              <a:defRPr sz="1700"/>
            </a:pPr>
            <a:r>
              <a:t>• Medians are compared, not means, to avoid distortion by extreme byte counts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Hourly traffic pattern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280160"/>
          <a:ext cx="7132320" cy="5120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Rectangle 4"/>
          <p:cNvSpPr/>
          <p:nvPr/>
        </p:nvSpPr>
        <p:spPr>
          <a:xfrm>
            <a:off x="7863840" y="1280160"/>
            <a:ext cx="3931920" cy="2651760"/>
          </a:xfrm>
          <a:prstGeom prst="rect">
            <a:avLst/>
          </a:prstGeom>
          <a:solidFill>
            <a:srgbClr val="EEF2F8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3864"/>
                </a:solidFill>
              </a:defRPr>
            </a:pPr>
            <a:r>
              <a:t>Evidence</a:t>
            </a:r>
          </a:p>
          <a:p>
            <a:pPr>
              <a:spcBef>
                <a:spcPts val="600"/>
              </a:spcBef>
              <a:defRPr sz="1400">
                <a:solidFill>
                  <a:srgbClr val="222222"/>
                </a:solidFill>
              </a:defRPr>
            </a:pPr>
            <a:r>
              <a:t>Peak unusual hour: 21:00 (18.8%)</a:t>
            </a:r>
          </a:p>
          <a:p>
            <a:pPr>
              <a:spcBef>
                <a:spcPts val="600"/>
              </a:spcBef>
              <a:defRPr sz="1400">
                <a:solidFill>
                  <a:srgbClr val="222222"/>
                </a:solidFill>
              </a:defRPr>
            </a:pPr>
            <a:r>
              <a:t>Off-hours unusual rate: 7.4% vs business hours 10.2%</a:t>
            </a:r>
          </a:p>
          <a:p>
            <a:pPr>
              <a:spcBef>
                <a:spcPts val="600"/>
              </a:spcBef>
              <a:defRPr sz="1400">
                <a:solidFill>
                  <a:srgbClr val="222222"/>
                </a:solidFill>
              </a:defRPr>
            </a:pPr>
            <a:r>
              <a:t>Maintenance window: 8.3% vs outside 9.2%</a:t>
            </a:r>
          </a:p>
          <a:p>
            <a:pPr>
              <a:spcBef>
                <a:spcPts val="600"/>
              </a:spcBef>
              <a:defRPr sz="1400">
                <a:solidFill>
                  <a:srgbClr val="222222"/>
                </a:solidFill>
              </a:defRPr>
            </a:pPr>
            <a:r>
              <a:t>Weekend unusual rate: 8.3%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4069080"/>
            <a:ext cx="3931920" cy="2286000"/>
          </a:xfrm>
          <a:prstGeom prst="rect">
            <a:avLst/>
          </a:prstGeom>
          <a:solidFill>
            <a:srgbClr val="EEF2F8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3864"/>
                </a:solidFill>
              </a:defRPr>
            </a:pPr>
            <a:r>
              <a:t>Business meaning</a:t>
            </a:r>
          </a:p>
          <a:p>
            <a:pPr>
              <a:spcBef>
                <a:spcPts val="600"/>
              </a:spcBef>
              <a:defRPr sz="1400">
                <a:solidFill>
                  <a:srgbClr val="222222"/>
                </a:solidFill>
              </a:defRPr>
            </a:pPr>
            <a:r>
              <a:t>Analyst coverage and alert sensitivity should follow the risk curve by hour</a:t>
            </a:r>
          </a:p>
          <a:p>
            <a:pPr>
              <a:spcBef>
                <a:spcPts val="600"/>
              </a:spcBef>
              <a:defRPr sz="1400">
                <a:solidFill>
                  <a:srgbClr val="222222"/>
                </a:solidFill>
              </a:defRPr>
            </a:pPr>
            <a:r>
              <a:t>Maintenance windows need their own baseline to reduce false positives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Zone comparison (source zone)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280160"/>
          <a:ext cx="7132320" cy="5120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Rectangle 4"/>
          <p:cNvSpPr/>
          <p:nvPr/>
        </p:nvSpPr>
        <p:spPr>
          <a:xfrm>
            <a:off x="7863840" y="1280160"/>
            <a:ext cx="3931920" cy="2651760"/>
          </a:xfrm>
          <a:prstGeom prst="rect">
            <a:avLst/>
          </a:prstGeom>
          <a:solidFill>
            <a:srgbClr val="EEF2F8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3864"/>
                </a:solidFill>
              </a:defRPr>
            </a:pPr>
            <a:r>
              <a:t>Evidence</a:t>
            </a:r>
          </a:p>
          <a:p>
            <a:pPr>
              <a:spcBef>
                <a:spcPts val="600"/>
              </a:spcBef>
              <a:defRPr sz="1400">
                <a:solidFill>
                  <a:srgbClr val="222222"/>
                </a:solidFill>
              </a:defRPr>
            </a:pPr>
            <a:r>
              <a:t>Highest source zone: internal (9.5%)</a:t>
            </a:r>
          </a:p>
          <a:p>
            <a:pPr>
              <a:spcBef>
                <a:spcPts val="600"/>
              </a:spcBef>
              <a:defRPr sz="1400">
                <a:solidFill>
                  <a:srgbClr val="222222"/>
                </a:solidFill>
              </a:defRPr>
            </a:pPr>
            <a:r>
              <a:t>Highest destination zone: internal (10.2%)</a:t>
            </a:r>
          </a:p>
          <a:p>
            <a:pPr>
              <a:spcBef>
                <a:spcPts val="600"/>
              </a:spcBef>
              <a:defRPr sz="1400">
                <a:solidFill>
                  <a:srgbClr val="222222"/>
                </a:solidFill>
              </a:defRPr>
            </a:pPr>
            <a:r>
              <a:t>Riskiest path: external to internal (12.8%, 133 flows)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4069080"/>
            <a:ext cx="3931920" cy="2286000"/>
          </a:xfrm>
          <a:prstGeom prst="rect">
            <a:avLst/>
          </a:prstGeom>
          <a:solidFill>
            <a:srgbClr val="EEF2F8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3864"/>
                </a:solidFill>
              </a:defRPr>
            </a:pPr>
            <a:r>
              <a:t>Business meaning</a:t>
            </a:r>
          </a:p>
          <a:p>
            <a:pPr>
              <a:spcBef>
                <a:spcPts val="600"/>
              </a:spcBef>
              <a:defRPr sz="1400">
                <a:solidFill>
                  <a:srgbClr val="222222"/>
                </a:solidFill>
              </a:defRPr>
            </a:pPr>
            <a:r>
              <a:t>Zone boundaries are natural places to enforce and monitor policy</a:t>
            </a:r>
          </a:p>
          <a:p>
            <a:pPr>
              <a:spcBef>
                <a:spcPts val="600"/>
              </a:spcBef>
              <a:defRPr sz="1400">
                <a:solidFill>
                  <a:srgbClr val="222222"/>
                </a:solidFill>
              </a:defRPr>
            </a:pPr>
            <a:r>
              <a:t>Prioritise the riskiest zone paths for tighter flow logging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Port category analysis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280160"/>
          <a:ext cx="7132320" cy="5120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Rectangle 4"/>
          <p:cNvSpPr/>
          <p:nvPr/>
        </p:nvSpPr>
        <p:spPr>
          <a:xfrm>
            <a:off x="7863840" y="1280160"/>
            <a:ext cx="3931920" cy="2651760"/>
          </a:xfrm>
          <a:prstGeom prst="rect">
            <a:avLst/>
          </a:prstGeom>
          <a:solidFill>
            <a:srgbClr val="EEF2F8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3864"/>
                </a:solidFill>
              </a:defRPr>
            </a:pPr>
            <a:r>
              <a:t>Evidence</a:t>
            </a:r>
          </a:p>
          <a:p>
            <a:pPr>
              <a:spcBef>
                <a:spcPts val="600"/>
              </a:spcBef>
              <a:defRPr sz="1400">
                <a:solidFill>
                  <a:srgbClr val="222222"/>
                </a:solidFill>
              </a:defRPr>
            </a:pPr>
            <a:r>
              <a:t>database: 89 flows, 12.4% unusual</a:t>
            </a:r>
          </a:p>
          <a:p>
            <a:pPr>
              <a:spcBef>
                <a:spcPts val="600"/>
              </a:spcBef>
              <a:defRPr sz="1400">
                <a:solidFill>
                  <a:srgbClr val="222222"/>
                </a:solidFill>
              </a:defRPr>
            </a:pPr>
            <a:r>
              <a:t>dns: 133 flows, 6.0% unusual</a:t>
            </a:r>
          </a:p>
          <a:p>
            <a:pPr>
              <a:spcBef>
                <a:spcPts val="600"/>
              </a:spcBef>
              <a:defRPr sz="1400">
                <a:solidFill>
                  <a:srgbClr val="222222"/>
                </a:solidFill>
              </a:defRPr>
            </a:pPr>
            <a:r>
              <a:t>ephemeral: 385 flows, 8.3% unusual</a:t>
            </a:r>
          </a:p>
          <a:p>
            <a:pPr>
              <a:spcBef>
                <a:spcPts val="600"/>
              </a:spcBef>
              <a:defRPr sz="1400">
                <a:solidFill>
                  <a:srgbClr val="222222"/>
                </a:solidFill>
              </a:defRPr>
            </a:pPr>
            <a:r>
              <a:t>other: 140 flows, 6.4% unusual</a:t>
            </a:r>
          </a:p>
          <a:p>
            <a:pPr>
              <a:spcBef>
                <a:spcPts val="600"/>
              </a:spcBef>
              <a:defRPr sz="1400">
                <a:solidFill>
                  <a:srgbClr val="222222"/>
                </a:solidFill>
              </a:defRPr>
            </a:pPr>
            <a:r>
              <a:t>ssh: 104 flows, 5.8% unusual</a:t>
            </a:r>
          </a:p>
          <a:p>
            <a:pPr>
              <a:spcBef>
                <a:spcPts val="600"/>
              </a:spcBef>
              <a:defRPr sz="1400">
                <a:solidFill>
                  <a:srgbClr val="222222"/>
                </a:solidFill>
              </a:defRPr>
            </a:pPr>
            <a:r>
              <a:t>web: 349 flows, 12.6% unusual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4069080"/>
            <a:ext cx="3931920" cy="2286000"/>
          </a:xfrm>
          <a:prstGeom prst="rect">
            <a:avLst/>
          </a:prstGeom>
          <a:solidFill>
            <a:srgbClr val="EEF2F8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3864"/>
                </a:solidFill>
              </a:defRPr>
            </a:pPr>
            <a:r>
              <a:t>Business meaning</a:t>
            </a:r>
          </a:p>
          <a:p>
            <a:pPr>
              <a:spcBef>
                <a:spcPts val="600"/>
              </a:spcBef>
              <a:defRPr sz="1400">
                <a:solidFill>
                  <a:srgbClr val="222222"/>
                </a:solidFill>
              </a:defRPr>
            </a:pPr>
            <a:r>
              <a:t>web traffic is the most alert-prone (1.4x baseline)</a:t>
            </a:r>
          </a:p>
          <a:p>
            <a:pPr>
              <a:spcBef>
                <a:spcPts val="600"/>
              </a:spcBef>
              <a:defRPr sz="1400">
                <a:solidFill>
                  <a:srgbClr val="222222"/>
                </a:solidFill>
              </a:defRPr>
            </a:pPr>
            <a:r>
              <a:t>Port-category rules narrow the monitoring scope instead of watching everything equally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Host-group alert summary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280160"/>
          <a:ext cx="7132320" cy="5120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Rectangle 4"/>
          <p:cNvSpPr/>
          <p:nvPr/>
        </p:nvSpPr>
        <p:spPr>
          <a:xfrm>
            <a:off x="7863840" y="1280160"/>
            <a:ext cx="3931920" cy="2651760"/>
          </a:xfrm>
          <a:prstGeom prst="rect">
            <a:avLst/>
          </a:prstGeom>
          <a:solidFill>
            <a:srgbClr val="EEF2F8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3864"/>
                </a:solidFill>
              </a:defRPr>
            </a:pPr>
            <a:r>
              <a:t>Evidence</a:t>
            </a:r>
          </a:p>
          <a:p>
            <a:pPr>
              <a:spcBef>
                <a:spcPts val="600"/>
              </a:spcBef>
              <a:defRPr sz="1400">
                <a:solidFill>
                  <a:srgbClr val="222222"/>
                </a:solidFill>
              </a:defRPr>
            </a:pPr>
            <a:r>
              <a:t>guest_network: 22 unusual of 307 (7.2%)</a:t>
            </a:r>
          </a:p>
          <a:p>
            <a:pPr>
              <a:spcBef>
                <a:spcPts val="600"/>
              </a:spcBef>
              <a:defRPr sz="1400">
                <a:solidFill>
                  <a:srgbClr val="222222"/>
                </a:solidFill>
              </a:defRPr>
            </a:pPr>
            <a:r>
              <a:t>lab_devices: 30 unusual of 308 (9.7%)</a:t>
            </a:r>
          </a:p>
          <a:p>
            <a:pPr>
              <a:spcBef>
                <a:spcPts val="600"/>
              </a:spcBef>
              <a:defRPr sz="1400">
                <a:solidFill>
                  <a:srgbClr val="222222"/>
                </a:solidFill>
              </a:defRPr>
            </a:pPr>
            <a:r>
              <a:t>servers: 33 unusual of 301 (11.0%)</a:t>
            </a:r>
          </a:p>
          <a:p>
            <a:pPr>
              <a:spcBef>
                <a:spcPts val="600"/>
              </a:spcBef>
              <a:defRPr sz="1400">
                <a:solidFill>
                  <a:srgbClr val="222222"/>
                </a:solidFill>
              </a:defRPr>
            </a:pPr>
            <a:r>
              <a:t>workstations: 25 unusual of 284 (8.8%)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4069080"/>
            <a:ext cx="3931920" cy="2286000"/>
          </a:xfrm>
          <a:prstGeom prst="rect">
            <a:avLst/>
          </a:prstGeom>
          <a:solidFill>
            <a:srgbClr val="EEF2F8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3864"/>
                </a:solidFill>
              </a:defRPr>
            </a:pPr>
            <a:r>
              <a:t>Business meaning</a:t>
            </a:r>
          </a:p>
          <a:p>
            <a:pPr>
              <a:spcBef>
                <a:spcPts val="600"/>
              </a:spcBef>
              <a:defRPr sz="1400">
                <a:solidFill>
                  <a:srgbClr val="222222"/>
                </a:solidFill>
              </a:defRPr>
            </a:pPr>
            <a:r>
              <a:t>servers has the highest alert rate and should be reviewed first</a:t>
            </a:r>
          </a:p>
          <a:p>
            <a:pPr>
              <a:spcBef>
                <a:spcPts val="600"/>
              </a:spcBef>
              <a:defRPr sz="1400">
                <a:solidFill>
                  <a:srgbClr val="222222"/>
                </a:solidFill>
              </a:defRPr>
            </a:pPr>
            <a:r>
              <a:t>Group-specific baselines stop noisy groups from hiding real changes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Unusual traffic by event category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280160"/>
          <a:ext cx="7132320" cy="5120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Rectangle 4"/>
          <p:cNvSpPr/>
          <p:nvPr/>
        </p:nvSpPr>
        <p:spPr>
          <a:xfrm>
            <a:off x="7863840" y="1280160"/>
            <a:ext cx="3931920" cy="2651760"/>
          </a:xfrm>
          <a:prstGeom prst="rect">
            <a:avLst/>
          </a:prstGeom>
          <a:solidFill>
            <a:srgbClr val="EEF2F8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3864"/>
                </a:solidFill>
              </a:defRPr>
            </a:pPr>
            <a:r>
              <a:t>Evidence</a:t>
            </a:r>
          </a:p>
          <a:p>
            <a:pPr>
              <a:spcBef>
                <a:spcPts val="600"/>
              </a:spcBef>
              <a:defRPr sz="1400">
                <a:solidFill>
                  <a:srgbClr val="222222"/>
                </a:solidFill>
              </a:defRPr>
            </a:pPr>
            <a:r>
              <a:t>burst: 47 flows (43% of unusual)</a:t>
            </a:r>
          </a:p>
          <a:p>
            <a:pPr>
              <a:spcBef>
                <a:spcPts val="600"/>
              </a:spcBef>
              <a:defRPr sz="1400">
                <a:solidFill>
                  <a:srgbClr val="222222"/>
                </a:solidFill>
              </a:defRPr>
            </a:pPr>
            <a:r>
              <a:t>scan: 43 flows (39% of unusual)</a:t>
            </a:r>
          </a:p>
          <a:p>
            <a:pPr>
              <a:spcBef>
                <a:spcPts val="600"/>
              </a:spcBef>
              <a:defRPr sz="1400">
                <a:solidFill>
                  <a:srgbClr val="222222"/>
                </a:solidFill>
              </a:defRPr>
            </a:pPr>
            <a:r>
              <a:t>policy_event: 20 flows (18% of unusual)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4069080"/>
            <a:ext cx="3931920" cy="2286000"/>
          </a:xfrm>
          <a:prstGeom prst="rect">
            <a:avLst/>
          </a:prstGeom>
          <a:solidFill>
            <a:srgbClr val="EEF2F8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3864"/>
                </a:solidFill>
              </a:defRPr>
            </a:pPr>
            <a:r>
              <a:t>Business meaning</a:t>
            </a:r>
          </a:p>
          <a:p>
            <a:pPr>
              <a:spcBef>
                <a:spcPts val="600"/>
              </a:spcBef>
              <a:defRPr sz="1400">
                <a:solidFill>
                  <a:srgbClr val="222222"/>
                </a:solidFill>
              </a:defRPr>
            </a:pPr>
            <a:r>
              <a:t>Different event types need different response playbooks</a:t>
            </a:r>
          </a:p>
          <a:p>
            <a:pPr>
              <a:spcBef>
                <a:spcPts val="600"/>
              </a:spcBef>
              <a:defRPr sz="1400">
                <a:solidFill>
                  <a:srgbClr val="222222"/>
                </a:solidFill>
              </a:defRPr>
            </a:pPr>
            <a:r>
              <a:t>Track the largest categories as monitoring KPIs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Areas needing management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UNKNOWN traffic: highest alert rate among protocols (11.9%)</a:t>
            </a:r>
          </a:p>
          <a:p>
            <a:pPr>
              <a:spcAft>
                <a:spcPts val="1000"/>
              </a:spcAft>
              <a:defRPr sz="2000"/>
            </a:pPr>
            <a:r>
              <a:t>• web port category: 12.6% unusual, 1.4x baseline</a:t>
            </a:r>
          </a:p>
          <a:p>
            <a:pPr>
              <a:spcAft>
                <a:spcPts val="1000"/>
              </a:spcAft>
              <a:defRPr sz="2000"/>
            </a:pPr>
            <a:r>
              <a:t>• servers host group: top alert rate at 11.0%</a:t>
            </a:r>
          </a:p>
          <a:p>
            <a:pPr>
              <a:spcAft>
                <a:spcPts val="1000"/>
              </a:spcAft>
              <a:defRPr sz="2000"/>
            </a:pPr>
            <a:r>
              <a:t>• Zone path external to internal: 12.8% unusual</a:t>
            </a:r>
          </a:p>
          <a:p>
            <a:pPr>
              <a:spcAft>
                <a:spcPts val="1000"/>
              </a:spcAft>
              <a:defRPr sz="2000"/>
            </a:pPr>
            <a:r>
              <a:t>• Hour 21:00 and off-hours traffic: elevated risk window</a:t>
            </a:r>
          </a:p>
          <a:p>
            <a:pPr>
              <a:spcAft>
                <a:spcPts val="1000"/>
              </a:spcAft>
              <a:defRPr sz="2000"/>
            </a:pPr>
            <a:r>
              <a:t>• 110 extreme-byte flows need a standing review process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Recommendations: defensive monitoring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• 1. Create dedicated alert rules for UNKNOWN traffic and the web port category</a:t>
            </a:r>
          </a:p>
          <a:p>
            <a:pPr>
              <a:spcAft>
                <a:spcPts val="1000"/>
              </a:spcAft>
              <a:defRPr sz="1900"/>
            </a:pPr>
            <a:r>
              <a:t>• 2. Raise logging and review depth on the external to internal zone path</a:t>
            </a:r>
          </a:p>
          <a:p>
            <a:pPr>
              <a:spcAft>
                <a:spcPts val="1000"/>
              </a:spcAft>
              <a:defRPr sz="1900"/>
            </a:pPr>
            <a:r>
              <a:t>• 3. Start host-group reviews with servers, then rank the others by alert rate</a:t>
            </a:r>
          </a:p>
          <a:p>
            <a:pPr>
              <a:spcAft>
                <a:spcPts val="1000"/>
              </a:spcAft>
              <a:defRPr sz="1900"/>
            </a:pPr>
            <a:r>
              <a:t>• 4. Align analyst coverage with the peak risk hour (21:00) and off-hours</a:t>
            </a:r>
          </a:p>
          <a:p>
            <a:pPr>
              <a:spcAft>
                <a:spcPts val="1000"/>
              </a:spcAft>
              <a:defRPr sz="1900"/>
            </a:pPr>
            <a:r>
              <a:t>• 5. Use separate baselines for maintenance windows to reduce false positives</a:t>
            </a:r>
          </a:p>
          <a:p>
            <a:pPr>
              <a:spcAft>
                <a:spcPts val="1000"/>
              </a:spcAft>
              <a:defRPr sz="1900"/>
            </a:pPr>
            <a:r>
              <a:t>• 6. Monitor threshold shifts in bytes_per_second, which shows the clearest gap</a:t>
            </a:r>
          </a:p>
          <a:p>
            <a:pPr>
              <a:spcAft>
                <a:spcPts val="1000"/>
              </a:spcAft>
              <a:defRPr sz="1900"/>
            </a:pPr>
            <a:r>
              <a:t>• 7. Review weekly: unusual rate by protocol, port, zone and host group on one dashboard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Summary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Unusual traffic (9.2% of flows) concentrates in a few recurring segments</a:t>
            </a:r>
          </a:p>
          <a:p>
            <a:pPr>
              <a:spcAft>
                <a:spcPts val="1000"/>
              </a:spcAft>
              <a:defRPr sz="2000"/>
            </a:pPr>
            <a:r>
              <a:t>• Focusing monitoring there gives more coverage per analyst hour than uniform alerting</a:t>
            </a:r>
          </a:p>
          <a:p>
            <a:pPr>
              <a:spcAft>
                <a:spcPts val="1000"/>
              </a:spcAft>
              <a:defRPr sz="2000"/>
            </a:pPr>
            <a:r>
              <a:t>• Next steps: pilot the alert rules, track the unusual rate per segment, review monthly</a:t>
            </a:r>
          </a:p>
          <a:p>
            <a:pPr>
              <a:spcAft>
                <a:spcPts val="1000"/>
              </a:spcAft>
              <a:defRPr sz="2000"/>
            </a:pPr>
            <a:r>
              <a:t>• Limitations: labels come from historical classification; thresholds should be validated on new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